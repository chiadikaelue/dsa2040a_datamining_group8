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4984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26" Type="http://schemas.openxmlformats.org/officeDocument/2006/relationships/image" Target="../media/image50.png"/><Relationship Id="rId3" Type="http://schemas.openxmlformats.org/officeDocument/2006/relationships/image" Target="../media/image16.png"/><Relationship Id="rId21" Type="http://schemas.openxmlformats.org/officeDocument/2006/relationships/image" Target="../media/image46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5" Type="http://schemas.openxmlformats.org/officeDocument/2006/relationships/image" Target="../media/image4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24" Type="http://schemas.openxmlformats.org/officeDocument/2006/relationships/image" Target="../media/image48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23" Type="http://schemas.openxmlformats.org/officeDocument/2006/relationships/image" Target="../media/image47.png"/><Relationship Id="rId10" Type="http://schemas.openxmlformats.org/officeDocument/2006/relationships/image" Target="../media/image35.png"/><Relationship Id="rId19" Type="http://schemas.openxmlformats.org/officeDocument/2006/relationships/image" Target="../media/image44.png"/><Relationship Id="rId4" Type="http://schemas.openxmlformats.org/officeDocument/2006/relationships/image" Target="../media/image17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Relationship Id="rId22" Type="http://schemas.openxmlformats.org/officeDocument/2006/relationships/image" Target="../media/image21.png"/><Relationship Id="rId27" Type="http://schemas.openxmlformats.org/officeDocument/2006/relationships/image" Target="../media/image5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18" Type="http://schemas.openxmlformats.org/officeDocument/2006/relationships/image" Target="../media/image66.png"/><Relationship Id="rId3" Type="http://schemas.openxmlformats.org/officeDocument/2006/relationships/image" Target="../media/image52.png"/><Relationship Id="rId21" Type="http://schemas.openxmlformats.org/officeDocument/2006/relationships/image" Target="../media/image69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17" Type="http://schemas.openxmlformats.org/officeDocument/2006/relationships/image" Target="../media/image6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64.png"/><Relationship Id="rId20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5" Type="http://schemas.openxmlformats.org/officeDocument/2006/relationships/image" Target="../media/image63.png"/><Relationship Id="rId23" Type="http://schemas.openxmlformats.org/officeDocument/2006/relationships/image" Target="../media/image21.png"/><Relationship Id="rId10" Type="http://schemas.openxmlformats.org/officeDocument/2006/relationships/image" Target="../media/image58.png"/><Relationship Id="rId19" Type="http://schemas.openxmlformats.org/officeDocument/2006/relationships/image" Target="../media/image67.png"/><Relationship Id="rId4" Type="http://schemas.openxmlformats.org/officeDocument/2006/relationships/image" Target="../media/image17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Relationship Id="rId22" Type="http://schemas.openxmlformats.org/officeDocument/2006/relationships/image" Target="../media/image7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78.png"/><Relationship Id="rId18" Type="http://schemas.openxmlformats.org/officeDocument/2006/relationships/image" Target="../media/image83.png"/><Relationship Id="rId3" Type="http://schemas.openxmlformats.org/officeDocument/2006/relationships/image" Target="../media/image71.png"/><Relationship Id="rId7" Type="http://schemas.openxmlformats.org/officeDocument/2006/relationships/image" Target="../media/image73.png"/><Relationship Id="rId12" Type="http://schemas.openxmlformats.org/officeDocument/2006/relationships/image" Target="../media/image77.png"/><Relationship Id="rId17" Type="http://schemas.openxmlformats.org/officeDocument/2006/relationships/image" Target="../media/image82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76.png"/><Relationship Id="rId5" Type="http://schemas.openxmlformats.org/officeDocument/2006/relationships/image" Target="../media/image72.png"/><Relationship Id="rId15" Type="http://schemas.openxmlformats.org/officeDocument/2006/relationships/image" Target="../media/image80.png"/><Relationship Id="rId10" Type="http://schemas.openxmlformats.org/officeDocument/2006/relationships/image" Target="../media/image75.png"/><Relationship Id="rId4" Type="http://schemas.openxmlformats.org/officeDocument/2006/relationships/image" Target="../media/image17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1.png"/><Relationship Id="rId3" Type="http://schemas.openxmlformats.org/officeDocument/2006/relationships/image" Target="../media/image16.png"/><Relationship Id="rId7" Type="http://schemas.openxmlformats.org/officeDocument/2006/relationships/image" Target="../media/image86.png"/><Relationship Id="rId12" Type="http://schemas.openxmlformats.org/officeDocument/2006/relationships/image" Target="../media/image90.png"/><Relationship Id="rId17" Type="http://schemas.openxmlformats.org/officeDocument/2006/relationships/image" Target="../media/image95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11" Type="http://schemas.openxmlformats.org/officeDocument/2006/relationships/image" Target="../media/image25.png"/><Relationship Id="rId5" Type="http://schemas.openxmlformats.org/officeDocument/2006/relationships/image" Target="../media/image84.png"/><Relationship Id="rId15" Type="http://schemas.openxmlformats.org/officeDocument/2006/relationships/image" Target="../media/image93.png"/><Relationship Id="rId10" Type="http://schemas.openxmlformats.org/officeDocument/2006/relationships/image" Target="../media/image89.png"/><Relationship Id="rId4" Type="http://schemas.openxmlformats.org/officeDocument/2006/relationships/image" Target="../media/image17.png"/><Relationship Id="rId9" Type="http://schemas.openxmlformats.org/officeDocument/2006/relationships/image" Target="../media/image88.png"/><Relationship Id="rId14" Type="http://schemas.openxmlformats.org/officeDocument/2006/relationships/image" Target="../media/image9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image" Target="../media/image103.png"/><Relationship Id="rId18" Type="http://schemas.openxmlformats.org/officeDocument/2006/relationships/image" Target="../media/image107.png"/><Relationship Id="rId3" Type="http://schemas.openxmlformats.org/officeDocument/2006/relationships/image" Target="../media/image16.png"/><Relationship Id="rId21" Type="http://schemas.openxmlformats.org/officeDocument/2006/relationships/image" Target="../media/image110.png"/><Relationship Id="rId7" Type="http://schemas.openxmlformats.org/officeDocument/2006/relationships/image" Target="../media/image98.png"/><Relationship Id="rId12" Type="http://schemas.openxmlformats.org/officeDocument/2006/relationships/image" Target="../media/image102.png"/><Relationship Id="rId17" Type="http://schemas.openxmlformats.org/officeDocument/2006/relationships/image" Target="../media/image106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05.png"/><Relationship Id="rId20" Type="http://schemas.openxmlformats.org/officeDocument/2006/relationships/image" Target="../media/image10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png"/><Relationship Id="rId11" Type="http://schemas.openxmlformats.org/officeDocument/2006/relationships/image" Target="../media/image101.png"/><Relationship Id="rId5" Type="http://schemas.openxmlformats.org/officeDocument/2006/relationships/image" Target="../media/image96.png"/><Relationship Id="rId15" Type="http://schemas.openxmlformats.org/officeDocument/2006/relationships/image" Target="../media/image49.png"/><Relationship Id="rId10" Type="http://schemas.openxmlformats.org/officeDocument/2006/relationships/image" Target="../media/image100.png"/><Relationship Id="rId19" Type="http://schemas.openxmlformats.org/officeDocument/2006/relationships/image" Target="../media/image108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Relationship Id="rId14" Type="http://schemas.openxmlformats.org/officeDocument/2006/relationships/image" Target="../media/image104.png"/><Relationship Id="rId22" Type="http://schemas.openxmlformats.org/officeDocument/2006/relationships/image" Target="../media/image1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118.png"/><Relationship Id="rId3" Type="http://schemas.openxmlformats.org/officeDocument/2006/relationships/image" Target="../media/image16.png"/><Relationship Id="rId7" Type="http://schemas.openxmlformats.org/officeDocument/2006/relationships/image" Target="../media/image114.png"/><Relationship Id="rId12" Type="http://schemas.openxmlformats.org/officeDocument/2006/relationships/image" Target="../media/image1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png"/><Relationship Id="rId11" Type="http://schemas.openxmlformats.org/officeDocument/2006/relationships/image" Target="../media/image27.png"/><Relationship Id="rId5" Type="http://schemas.openxmlformats.org/officeDocument/2006/relationships/image" Target="../media/image112.png"/><Relationship Id="rId15" Type="http://schemas.openxmlformats.org/officeDocument/2006/relationships/image" Target="../media/image28.png"/><Relationship Id="rId10" Type="http://schemas.openxmlformats.org/officeDocument/2006/relationships/image" Target="../media/image116.png"/><Relationship Id="rId4" Type="http://schemas.openxmlformats.org/officeDocument/2006/relationships/image" Target="../media/image17.png"/><Relationship Id="rId9" Type="http://schemas.openxmlformats.org/officeDocument/2006/relationships/image" Target="../media/image115.png"/><Relationship Id="rId14" Type="http://schemas.openxmlformats.org/officeDocument/2006/relationships/image" Target="../media/image1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952500"/>
            <a:ext cx="142875" cy="1428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0" y="1428750"/>
            <a:ext cx="190500" cy="190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" y="2857500"/>
            <a:ext cx="114300" cy="114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0" y="3810000"/>
            <a:ext cx="171450" cy="1714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57500" y="4762500"/>
            <a:ext cx="133350" cy="1333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47875" y="1000125"/>
            <a:ext cx="2714625" cy="190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800" y="2905125"/>
            <a:ext cx="4648200" cy="190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86450" y="3857625"/>
            <a:ext cx="2686050" cy="190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19601" y="1543050"/>
            <a:ext cx="952500" cy="76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82473" y="3068171"/>
            <a:ext cx="1293157" cy="1293157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38651" y="3257550"/>
            <a:ext cx="914400" cy="914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16073" y="3068171"/>
            <a:ext cx="1293157" cy="1293157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6553200"/>
            <a:ext cx="12192000" cy="3048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-265673" y="895350"/>
            <a:ext cx="12723197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DSA 2040A Project</a:t>
            </a:r>
            <a:endParaRPr lang="en-US" sz="3600" dirty="0"/>
          </a:p>
        </p:txBody>
      </p:sp>
      <p:sp>
        <p:nvSpPr>
          <p:cNvPr id="18" name="Text 1"/>
          <p:cNvSpPr/>
          <p:nvPr/>
        </p:nvSpPr>
        <p:spPr>
          <a:xfrm>
            <a:off x="-265673" y="1809750"/>
            <a:ext cx="12723197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115E5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Online Retail Customer Analytics</a:t>
            </a:r>
            <a:endParaRPr lang="en-US" sz="4500" dirty="0"/>
          </a:p>
        </p:txBody>
      </p:sp>
      <p:sp>
        <p:nvSpPr>
          <p:cNvPr id="19" name="Text 2"/>
          <p:cNvSpPr/>
          <p:nvPr/>
        </p:nvSpPr>
        <p:spPr>
          <a:xfrm>
            <a:off x="-265673" y="2609850"/>
            <a:ext cx="1272319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Uncovering Customer Behavior for Strategic Growth</a:t>
            </a:r>
            <a:endParaRPr lang="en-US" sz="2250" dirty="0"/>
          </a:p>
        </p:txBody>
      </p:sp>
      <p:sp>
        <p:nvSpPr>
          <p:cNvPr id="20" name="Text 3"/>
          <p:cNvSpPr/>
          <p:nvPr/>
        </p:nvSpPr>
        <p:spPr>
          <a:xfrm>
            <a:off x="794593" y="4629150"/>
            <a:ext cx="1060266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Group 8</a:t>
            </a:r>
            <a:endParaRPr lang="en-US" sz="1500" dirty="0"/>
          </a:p>
        </p:txBody>
      </p:sp>
      <p:sp>
        <p:nvSpPr>
          <p:cNvPr id="21" name="Text 4"/>
          <p:cNvSpPr/>
          <p:nvPr/>
        </p:nvSpPr>
        <p:spPr>
          <a:xfrm>
            <a:off x="794593" y="4972050"/>
            <a:ext cx="1060266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22" name="Text 5"/>
          <p:cNvSpPr/>
          <p:nvPr/>
        </p:nvSpPr>
        <p:spPr>
          <a:xfrm>
            <a:off x="3720257" y="5467350"/>
            <a:ext cx="139624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Chiadika Elue</a:t>
            </a:r>
            <a:endParaRPr lang="en-US" sz="1350" dirty="0"/>
          </a:p>
        </p:txBody>
      </p:sp>
      <p:sp>
        <p:nvSpPr>
          <p:cNvPr id="23" name="Text 6"/>
          <p:cNvSpPr/>
          <p:nvPr/>
        </p:nvSpPr>
        <p:spPr>
          <a:xfrm>
            <a:off x="3720257" y="5734050"/>
            <a:ext cx="139624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24" name="Text 7"/>
          <p:cNvSpPr/>
          <p:nvPr/>
        </p:nvSpPr>
        <p:spPr>
          <a:xfrm>
            <a:off x="5188595" y="5467350"/>
            <a:ext cx="1598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Keyshia Mideva</a:t>
            </a:r>
            <a:endParaRPr lang="en-US" sz="1350" dirty="0"/>
          </a:p>
        </p:txBody>
      </p:sp>
      <p:sp>
        <p:nvSpPr>
          <p:cNvPr id="25" name="Text 8"/>
          <p:cNvSpPr/>
          <p:nvPr/>
        </p:nvSpPr>
        <p:spPr>
          <a:xfrm>
            <a:off x="5188595" y="5734050"/>
            <a:ext cx="15989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26" name="Text 9"/>
          <p:cNvSpPr/>
          <p:nvPr/>
        </p:nvSpPr>
        <p:spPr>
          <a:xfrm>
            <a:off x="6825853" y="5467350"/>
            <a:ext cx="197471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Nelisa Wacera</a:t>
            </a:r>
            <a:endParaRPr lang="en-US" sz="1350" dirty="0"/>
          </a:p>
        </p:txBody>
      </p:sp>
      <p:sp>
        <p:nvSpPr>
          <p:cNvPr id="27" name="Text 10"/>
          <p:cNvSpPr/>
          <p:nvPr/>
        </p:nvSpPr>
        <p:spPr>
          <a:xfrm>
            <a:off x="6825853" y="5734050"/>
            <a:ext cx="197471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28" name="Text 11"/>
          <p:cNvSpPr/>
          <p:nvPr/>
        </p:nvSpPr>
        <p:spPr>
          <a:xfrm>
            <a:off x="10314384" y="6172200"/>
            <a:ext cx="170449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December 2,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838200"/>
            <a:ext cx="36576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028700"/>
            <a:ext cx="5181600" cy="4876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257300"/>
            <a:ext cx="3810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50" y="1314450"/>
            <a:ext cx="190500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3552825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3895725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4238625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4581525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1028700"/>
            <a:ext cx="5181600" cy="4876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9400" y="1257300"/>
            <a:ext cx="3810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10363" y="1314450"/>
            <a:ext cx="219075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9400" y="1790700"/>
            <a:ext cx="30480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86550" y="1866900"/>
            <a:ext cx="1905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9400" y="2705100"/>
            <a:ext cx="3048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96075" y="2781300"/>
            <a:ext cx="17145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9400" y="3619500"/>
            <a:ext cx="3048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05600" y="36957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9400" y="4533900"/>
            <a:ext cx="304800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05600" y="4610100"/>
            <a:ext cx="152400" cy="1524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609600" y="381000"/>
            <a:ext cx="131673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Executive Summary &amp; Project Goal</a:t>
            </a:r>
            <a:endParaRPr lang="en-US" sz="2700" dirty="0"/>
          </a:p>
        </p:txBody>
      </p:sp>
      <p:sp>
        <p:nvSpPr>
          <p:cNvPr id="23" name="Text 1"/>
          <p:cNvSpPr/>
          <p:nvPr/>
        </p:nvSpPr>
        <p:spPr>
          <a:xfrm>
            <a:off x="1371600" y="1295400"/>
            <a:ext cx="188702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Project Goal</a:t>
            </a:r>
            <a:endParaRPr lang="en-US" sz="1800" dirty="0"/>
          </a:p>
        </p:txBody>
      </p:sp>
      <p:sp>
        <p:nvSpPr>
          <p:cNvPr id="24" name="Text 2"/>
          <p:cNvSpPr/>
          <p:nvPr/>
        </p:nvSpPr>
        <p:spPr>
          <a:xfrm>
            <a:off x="838200" y="1790700"/>
            <a:ext cx="4724400" cy="1114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 a comprehensive data mining pipeline on the Online Retail II dataset to uncover critical insights into customer behavior, product associations, and sales trends.</a:t>
            </a:r>
            <a:endParaRPr lang="en-US" sz="1350" dirty="0"/>
          </a:p>
        </p:txBody>
      </p:sp>
      <p:sp>
        <p:nvSpPr>
          <p:cNvPr id="25" name="Text 3"/>
          <p:cNvSpPr/>
          <p:nvPr/>
        </p:nvSpPr>
        <p:spPr>
          <a:xfrm>
            <a:off x="838200" y="3133725"/>
            <a:ext cx="472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Expected Outcomes:</a:t>
            </a:r>
            <a:endParaRPr lang="en-US" sz="1500" dirty="0"/>
          </a:p>
        </p:txBody>
      </p:sp>
      <p:sp>
        <p:nvSpPr>
          <p:cNvPr id="26" name="Text 4"/>
          <p:cNvSpPr/>
          <p:nvPr/>
        </p:nvSpPr>
        <p:spPr>
          <a:xfrm>
            <a:off x="1104900" y="3514725"/>
            <a:ext cx="450681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Data-driven insights to inform business decisions</a:t>
            </a:r>
            <a:endParaRPr lang="en-US" sz="1200" dirty="0"/>
          </a:p>
        </p:txBody>
      </p:sp>
      <p:sp>
        <p:nvSpPr>
          <p:cNvPr id="27" name="Text 5"/>
          <p:cNvSpPr/>
          <p:nvPr/>
        </p:nvSpPr>
        <p:spPr>
          <a:xfrm>
            <a:off x="1104900" y="3857625"/>
            <a:ext cx="409801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Identified customer segments and behaviors</a:t>
            </a:r>
            <a:endParaRPr lang="en-US" sz="1200" dirty="0"/>
          </a:p>
        </p:txBody>
      </p:sp>
      <p:sp>
        <p:nvSpPr>
          <p:cNvPr id="28" name="Text 6"/>
          <p:cNvSpPr/>
          <p:nvPr/>
        </p:nvSpPr>
        <p:spPr>
          <a:xfrm>
            <a:off x="1104900" y="4200525"/>
            <a:ext cx="378868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Product association rules for cross-selling</a:t>
            </a:r>
            <a:endParaRPr lang="en-US" sz="1200" dirty="0"/>
          </a:p>
        </p:txBody>
      </p:sp>
      <p:sp>
        <p:nvSpPr>
          <p:cNvPr id="29" name="Text 7"/>
          <p:cNvSpPr/>
          <p:nvPr/>
        </p:nvSpPr>
        <p:spPr>
          <a:xfrm>
            <a:off x="1104900" y="4543425"/>
            <a:ext cx="4457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Deployed Plotly Dash Dashboard for interactive visualization</a:t>
            </a:r>
            <a:endParaRPr lang="en-US" sz="1200" dirty="0"/>
          </a:p>
        </p:txBody>
      </p:sp>
      <p:sp>
        <p:nvSpPr>
          <p:cNvPr id="30" name="Text 8"/>
          <p:cNvSpPr/>
          <p:nvPr/>
        </p:nvSpPr>
        <p:spPr>
          <a:xfrm>
            <a:off x="7162800" y="1295400"/>
            <a:ext cx="224813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Successes</a:t>
            </a:r>
            <a:endParaRPr lang="en-US" sz="1800" dirty="0"/>
          </a:p>
        </p:txBody>
      </p:sp>
      <p:sp>
        <p:nvSpPr>
          <p:cNvPr id="31" name="Text 9"/>
          <p:cNvSpPr/>
          <p:nvPr/>
        </p:nvSpPr>
        <p:spPr>
          <a:xfrm>
            <a:off x="7048500" y="1790700"/>
            <a:ext cx="5166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Customer Segmentation</a:t>
            </a:r>
            <a:endParaRPr lang="en-US" sz="1350" dirty="0"/>
          </a:p>
        </p:txBody>
      </p:sp>
      <p:sp>
        <p:nvSpPr>
          <p:cNvPr id="32" name="Text 10"/>
          <p:cNvSpPr/>
          <p:nvPr/>
        </p:nvSpPr>
        <p:spPr>
          <a:xfrm>
            <a:off x="7048500" y="2057400"/>
            <a:ext cx="43053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Identified 4 distinct customer segments through RFM Clustering</a:t>
            </a:r>
            <a:endParaRPr lang="en-US" sz="1200" dirty="0"/>
          </a:p>
        </p:txBody>
      </p:sp>
      <p:sp>
        <p:nvSpPr>
          <p:cNvPr id="33" name="Text 11"/>
          <p:cNvSpPr/>
          <p:nvPr/>
        </p:nvSpPr>
        <p:spPr>
          <a:xfrm>
            <a:off x="7048500" y="2705100"/>
            <a:ext cx="4305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Product Associations</a:t>
            </a:r>
            <a:endParaRPr lang="en-US" sz="1350" dirty="0"/>
          </a:p>
        </p:txBody>
      </p:sp>
      <p:sp>
        <p:nvSpPr>
          <p:cNvPr id="34" name="Text 12"/>
          <p:cNvSpPr/>
          <p:nvPr/>
        </p:nvSpPr>
        <p:spPr>
          <a:xfrm>
            <a:off x="7048500" y="2971800"/>
            <a:ext cx="43053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Discovered 15+ significant product associations, highlighting cross-selling opportunities</a:t>
            </a:r>
            <a:endParaRPr lang="en-US" sz="1200" dirty="0"/>
          </a:p>
        </p:txBody>
      </p:sp>
      <p:sp>
        <p:nvSpPr>
          <p:cNvPr id="35" name="Text 13"/>
          <p:cNvSpPr/>
          <p:nvPr/>
        </p:nvSpPr>
        <p:spPr>
          <a:xfrm>
            <a:off x="7048500" y="3619500"/>
            <a:ext cx="4305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Sales Trends</a:t>
            </a:r>
            <a:endParaRPr lang="en-US" sz="1350" dirty="0"/>
          </a:p>
        </p:txBody>
      </p:sp>
      <p:sp>
        <p:nvSpPr>
          <p:cNvPr id="36" name="Text 14"/>
          <p:cNvSpPr/>
          <p:nvPr/>
        </p:nvSpPr>
        <p:spPr>
          <a:xfrm>
            <a:off x="7048500" y="3886200"/>
            <a:ext cx="43053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Established clear seasonal sales trends, with a notable peak in Q4</a:t>
            </a:r>
            <a:endParaRPr lang="en-US" sz="1200" dirty="0"/>
          </a:p>
        </p:txBody>
      </p:sp>
      <p:sp>
        <p:nvSpPr>
          <p:cNvPr id="37" name="Text 15"/>
          <p:cNvSpPr/>
          <p:nvPr/>
        </p:nvSpPr>
        <p:spPr>
          <a:xfrm>
            <a:off x="7048500" y="4533900"/>
            <a:ext cx="4305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Revenue Drivers</a:t>
            </a:r>
            <a:endParaRPr lang="en-US" sz="1350" dirty="0"/>
          </a:p>
        </p:txBody>
      </p:sp>
      <p:sp>
        <p:nvSpPr>
          <p:cNvPr id="38" name="Text 16"/>
          <p:cNvSpPr/>
          <p:nvPr/>
        </p:nvSpPr>
        <p:spPr>
          <a:xfrm>
            <a:off x="7048500" y="4800600"/>
            <a:ext cx="43053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Quantified that top 10% of customers generate 45% of total revenue</a:t>
            </a:r>
            <a:endParaRPr lang="en-US" sz="1200" dirty="0"/>
          </a:p>
        </p:txBody>
      </p:sp>
      <p:sp>
        <p:nvSpPr>
          <p:cNvPr id="39" name="Text 17"/>
          <p:cNvSpPr/>
          <p:nvPr/>
        </p:nvSpPr>
        <p:spPr>
          <a:xfrm>
            <a:off x="609600" y="6515100"/>
            <a:ext cx="42328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DSA 2040A Project: Online Retail Customer Analytics</a:t>
            </a:r>
            <a:endParaRPr lang="en-US" sz="1050" dirty="0"/>
          </a:p>
        </p:txBody>
      </p:sp>
      <p:sp>
        <p:nvSpPr>
          <p:cNvPr id="40" name="Text 18"/>
          <p:cNvSpPr/>
          <p:nvPr/>
        </p:nvSpPr>
        <p:spPr>
          <a:xfrm>
            <a:off x="11367790" y="6515100"/>
            <a:ext cx="25753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2/8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838200"/>
            <a:ext cx="36576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257300"/>
            <a:ext cx="1857375" cy="1676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375" y="1409700"/>
            <a:ext cx="609600" cy="609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163" y="1562100"/>
            <a:ext cx="200025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00250" y="2085975"/>
            <a:ext cx="914400" cy="190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57525" y="1352550"/>
            <a:ext cx="2438400" cy="1485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71925" y="1504950"/>
            <a:ext cx="609600" cy="609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62425" y="1657350"/>
            <a:ext cx="2286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38800" y="2085975"/>
            <a:ext cx="914400" cy="190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96075" y="1352550"/>
            <a:ext cx="2438400" cy="1485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10475" y="1504950"/>
            <a:ext cx="609600" cy="609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00975" y="1657350"/>
            <a:ext cx="22860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77350" y="2085975"/>
            <a:ext cx="914400" cy="190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334625" y="1352550"/>
            <a:ext cx="1857375" cy="1485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66496" y="1514475"/>
            <a:ext cx="609600" cy="609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425238" y="1657350"/>
            <a:ext cx="257175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9600" y="3238500"/>
            <a:ext cx="3505200" cy="24003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0100" y="3429000"/>
            <a:ext cx="381000" cy="381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4400" y="35433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0100" y="396240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0100" y="426720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0100" y="457200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343400" y="3238500"/>
            <a:ext cx="3505200" cy="24003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33900" y="3429000"/>
            <a:ext cx="381000" cy="3810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629150" y="3543300"/>
            <a:ext cx="1905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533900" y="3962400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533900" y="4495800"/>
            <a:ext cx="1524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533900" y="5029200"/>
            <a:ext cx="1524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77200" y="3238500"/>
            <a:ext cx="3505200" cy="24003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267700" y="3429000"/>
            <a:ext cx="381000" cy="3810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62950" y="3543300"/>
            <a:ext cx="190500" cy="1524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67700" y="3962400"/>
            <a:ext cx="152400" cy="1524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67700" y="4267200"/>
            <a:ext cx="152400" cy="1524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67700" y="4572000"/>
            <a:ext cx="152400" cy="152400"/>
          </a:xfrm>
          <a:prstGeom prst="rect">
            <a:avLst/>
          </a:prstGeom>
        </p:spPr>
      </p:pic>
      <p:sp>
        <p:nvSpPr>
          <p:cNvPr id="37" name="Text 0"/>
          <p:cNvSpPr/>
          <p:nvPr/>
        </p:nvSpPr>
        <p:spPr>
          <a:xfrm>
            <a:off x="609600" y="381000"/>
            <a:ext cx="131673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Technical Pipeline &amp; Implementation</a:t>
            </a:r>
            <a:endParaRPr lang="en-US" sz="2700" dirty="0"/>
          </a:p>
        </p:txBody>
      </p:sp>
      <p:sp>
        <p:nvSpPr>
          <p:cNvPr id="38" name="Text 1"/>
          <p:cNvSpPr/>
          <p:nvPr/>
        </p:nvSpPr>
        <p:spPr>
          <a:xfrm>
            <a:off x="-428625" y="2105025"/>
            <a:ext cx="2133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ETL</a:t>
            </a:r>
            <a:endParaRPr lang="en-US" sz="1500" dirty="0"/>
          </a:p>
        </p:txBody>
      </p:sp>
      <p:sp>
        <p:nvSpPr>
          <p:cNvPr id="39" name="Text 2"/>
          <p:cNvSpPr/>
          <p:nvPr/>
        </p:nvSpPr>
        <p:spPr>
          <a:xfrm>
            <a:off x="-114300" y="2409825"/>
            <a:ext cx="2133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Extraction, Transformation, Loading</a:t>
            </a:r>
            <a:endParaRPr lang="en-US" sz="1050" dirty="0"/>
          </a:p>
        </p:txBody>
      </p:sp>
      <p:sp>
        <p:nvSpPr>
          <p:cNvPr id="40" name="Text 3"/>
          <p:cNvSpPr/>
          <p:nvPr/>
        </p:nvSpPr>
        <p:spPr>
          <a:xfrm>
            <a:off x="3209925" y="2228850"/>
            <a:ext cx="2133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EDA</a:t>
            </a:r>
            <a:endParaRPr lang="en-US" sz="1500" dirty="0"/>
          </a:p>
        </p:txBody>
      </p:sp>
      <p:sp>
        <p:nvSpPr>
          <p:cNvPr id="41" name="Text 4"/>
          <p:cNvSpPr/>
          <p:nvPr/>
        </p:nvSpPr>
        <p:spPr>
          <a:xfrm>
            <a:off x="2996565" y="2495550"/>
            <a:ext cx="25603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Exploratory Data Analysis</a:t>
            </a:r>
            <a:endParaRPr lang="en-US" sz="1050" dirty="0"/>
          </a:p>
        </p:txBody>
      </p:sp>
      <p:sp>
        <p:nvSpPr>
          <p:cNvPr id="42" name="Text 5"/>
          <p:cNvSpPr/>
          <p:nvPr/>
        </p:nvSpPr>
        <p:spPr>
          <a:xfrm>
            <a:off x="6635115" y="2228850"/>
            <a:ext cx="25603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Mining</a:t>
            </a:r>
            <a:endParaRPr lang="en-US" sz="1500" dirty="0"/>
          </a:p>
        </p:txBody>
      </p:sp>
      <p:sp>
        <p:nvSpPr>
          <p:cNvPr id="43" name="Text 6"/>
          <p:cNvSpPr/>
          <p:nvPr/>
        </p:nvSpPr>
        <p:spPr>
          <a:xfrm>
            <a:off x="6635115" y="2495550"/>
            <a:ext cx="25603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Advanced Analytics</a:t>
            </a:r>
            <a:endParaRPr lang="en-US" sz="1050" dirty="0"/>
          </a:p>
        </p:txBody>
      </p:sp>
      <p:sp>
        <p:nvSpPr>
          <p:cNvPr id="44" name="Text 7"/>
          <p:cNvSpPr/>
          <p:nvPr/>
        </p:nvSpPr>
        <p:spPr>
          <a:xfrm>
            <a:off x="10300990" y="2238375"/>
            <a:ext cx="2133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45" name="Text 8"/>
          <p:cNvSpPr/>
          <p:nvPr/>
        </p:nvSpPr>
        <p:spPr>
          <a:xfrm>
            <a:off x="10060305" y="2495550"/>
            <a:ext cx="25603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Visualization &amp; Storytelling</a:t>
            </a:r>
            <a:endParaRPr lang="en-US" sz="1050" dirty="0"/>
          </a:p>
        </p:txBody>
      </p:sp>
      <p:sp>
        <p:nvSpPr>
          <p:cNvPr id="46" name="Text 9"/>
          <p:cNvSpPr/>
          <p:nvPr/>
        </p:nvSpPr>
        <p:spPr>
          <a:xfrm>
            <a:off x="1295400" y="3486150"/>
            <a:ext cx="115585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ETL Stage</a:t>
            </a:r>
            <a:endParaRPr lang="en-US" sz="1350" dirty="0"/>
          </a:p>
        </p:txBody>
      </p:sp>
      <p:sp>
        <p:nvSpPr>
          <p:cNvPr id="47" name="Text 10"/>
          <p:cNvSpPr/>
          <p:nvPr/>
        </p:nvSpPr>
        <p:spPr>
          <a:xfrm>
            <a:off x="1028700" y="3924300"/>
            <a:ext cx="283178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Cleaning &amp; Preprocessing</a:t>
            </a:r>
            <a:endParaRPr lang="en-US" sz="1200" dirty="0"/>
          </a:p>
        </p:txBody>
      </p:sp>
      <p:sp>
        <p:nvSpPr>
          <p:cNvPr id="48" name="Text 11"/>
          <p:cNvSpPr/>
          <p:nvPr/>
        </p:nvSpPr>
        <p:spPr>
          <a:xfrm>
            <a:off x="1028700" y="4229100"/>
            <a:ext cx="149429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Outlier Handling</a:t>
            </a:r>
            <a:endParaRPr lang="en-US" sz="1200" dirty="0"/>
          </a:p>
        </p:txBody>
      </p:sp>
      <p:sp>
        <p:nvSpPr>
          <p:cNvPr id="49" name="Text 12"/>
          <p:cNvSpPr/>
          <p:nvPr/>
        </p:nvSpPr>
        <p:spPr>
          <a:xfrm>
            <a:off x="1028700" y="4533900"/>
            <a:ext cx="229475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RFM Feature Engineering</a:t>
            </a:r>
            <a:endParaRPr lang="en-US" sz="1200" dirty="0"/>
          </a:p>
        </p:txBody>
      </p:sp>
      <p:sp>
        <p:nvSpPr>
          <p:cNvPr id="50" name="Text 13"/>
          <p:cNvSpPr/>
          <p:nvPr/>
        </p:nvSpPr>
        <p:spPr>
          <a:xfrm>
            <a:off x="5029200" y="3486150"/>
            <a:ext cx="214830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Mining Stage</a:t>
            </a:r>
            <a:endParaRPr lang="en-US" sz="1350" dirty="0"/>
          </a:p>
        </p:txBody>
      </p:sp>
      <p:sp>
        <p:nvSpPr>
          <p:cNvPr id="51" name="Text 14"/>
          <p:cNvSpPr/>
          <p:nvPr/>
        </p:nvSpPr>
        <p:spPr>
          <a:xfrm>
            <a:off x="4762500" y="3924300"/>
            <a:ext cx="2895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K-Means Clustering</a:t>
            </a: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for RFM Segmentation</a:t>
            </a:r>
            <a:endParaRPr lang="en-US" sz="1200" dirty="0"/>
          </a:p>
        </p:txBody>
      </p:sp>
      <p:sp>
        <p:nvSpPr>
          <p:cNvPr id="52" name="Text 15"/>
          <p:cNvSpPr/>
          <p:nvPr/>
        </p:nvSpPr>
        <p:spPr>
          <a:xfrm>
            <a:off x="4762500" y="4457700"/>
            <a:ext cx="2895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Apriori Algorithm</a:t>
            </a: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for Market Basket Analysis</a:t>
            </a:r>
            <a:endParaRPr lang="en-US" sz="1200" dirty="0"/>
          </a:p>
        </p:txBody>
      </p:sp>
      <p:sp>
        <p:nvSpPr>
          <p:cNvPr id="53" name="Text 16"/>
          <p:cNvSpPr/>
          <p:nvPr/>
        </p:nvSpPr>
        <p:spPr>
          <a:xfrm>
            <a:off x="4762500" y="4991100"/>
            <a:ext cx="2895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Prophet Model</a:t>
            </a: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for Time Series Forecasting</a:t>
            </a:r>
            <a:endParaRPr lang="en-US" sz="1200" dirty="0"/>
          </a:p>
        </p:txBody>
      </p:sp>
      <p:sp>
        <p:nvSpPr>
          <p:cNvPr id="54" name="Text 17"/>
          <p:cNvSpPr/>
          <p:nvPr/>
        </p:nvSpPr>
        <p:spPr>
          <a:xfrm>
            <a:off x="8763000" y="3486150"/>
            <a:ext cx="250299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Implementation Tools</a:t>
            </a:r>
            <a:endParaRPr lang="en-US" sz="1350" dirty="0"/>
          </a:p>
        </p:txBody>
      </p:sp>
      <p:sp>
        <p:nvSpPr>
          <p:cNvPr id="55" name="Text 18"/>
          <p:cNvSpPr/>
          <p:nvPr/>
        </p:nvSpPr>
        <p:spPr>
          <a:xfrm>
            <a:off x="8496300" y="3924300"/>
            <a:ext cx="216330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Python with Scikit-learn</a:t>
            </a:r>
            <a:endParaRPr lang="en-US" sz="1200" dirty="0"/>
          </a:p>
        </p:txBody>
      </p:sp>
      <p:sp>
        <p:nvSpPr>
          <p:cNvPr id="56" name="Text 19"/>
          <p:cNvSpPr/>
          <p:nvPr/>
        </p:nvSpPr>
        <p:spPr>
          <a:xfrm>
            <a:off x="8496300" y="4229100"/>
            <a:ext cx="331487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MLxtend for Association Rule Mining</a:t>
            </a:r>
            <a:endParaRPr lang="en-US" sz="1200" dirty="0"/>
          </a:p>
        </p:txBody>
      </p:sp>
      <p:sp>
        <p:nvSpPr>
          <p:cNvPr id="57" name="Text 20"/>
          <p:cNvSpPr/>
          <p:nvPr/>
        </p:nvSpPr>
        <p:spPr>
          <a:xfrm>
            <a:off x="8496300" y="4533900"/>
            <a:ext cx="2895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Plotly Dash for Interactive Visualization</a:t>
            </a:r>
            <a:endParaRPr lang="en-US" sz="1200" dirty="0"/>
          </a:p>
        </p:txBody>
      </p:sp>
      <p:sp>
        <p:nvSpPr>
          <p:cNvPr id="58" name="Text 21"/>
          <p:cNvSpPr/>
          <p:nvPr/>
        </p:nvSpPr>
        <p:spPr>
          <a:xfrm>
            <a:off x="609600" y="6515100"/>
            <a:ext cx="42328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DSA 2040A Project: Online Retail Customer Analytics</a:t>
            </a:r>
            <a:endParaRPr lang="en-US" sz="1050" dirty="0"/>
          </a:p>
        </p:txBody>
      </p:sp>
      <p:sp>
        <p:nvSpPr>
          <p:cNvPr id="59" name="Text 22"/>
          <p:cNvSpPr/>
          <p:nvPr/>
        </p:nvSpPr>
        <p:spPr>
          <a:xfrm>
            <a:off x="11367790" y="6515100"/>
            <a:ext cx="25753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3/8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771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838200"/>
            <a:ext cx="36576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90600"/>
            <a:ext cx="381000" cy="381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038" y="1047750"/>
            <a:ext cx="238125" cy="266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447800"/>
            <a:ext cx="3467100" cy="1524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1600200"/>
            <a:ext cx="3048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675" y="1676400"/>
            <a:ext cx="17145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2276475"/>
            <a:ext cx="104775" cy="1333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29100" y="1447800"/>
            <a:ext cx="3467100" cy="1524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81500" y="1600200"/>
            <a:ext cx="3048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38650" y="1676400"/>
            <a:ext cx="1905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81500" y="2562225"/>
            <a:ext cx="104775" cy="1333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3124200"/>
            <a:ext cx="3467100" cy="1333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000" y="3276600"/>
            <a:ext cx="3048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8200" y="33528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4143375"/>
            <a:ext cx="104775" cy="1333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29100" y="3124200"/>
            <a:ext cx="3467100" cy="1333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81500" y="3276600"/>
            <a:ext cx="30480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38650" y="3352800"/>
            <a:ext cx="1905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81500" y="4048125"/>
            <a:ext cx="104775" cy="1333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15302" y="828374"/>
            <a:ext cx="3429000" cy="55626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82000" y="1219200"/>
            <a:ext cx="381000" cy="381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62963" y="1276350"/>
            <a:ext cx="219075" cy="2667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248650" y="320040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248204" y="3919086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267698" y="4686601"/>
            <a:ext cx="152400" cy="152400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609600" y="381000"/>
            <a:ext cx="131673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Insight 1: Customer Segmentation (RFM)</a:t>
            </a:r>
            <a:endParaRPr lang="en-US" sz="2700" dirty="0"/>
          </a:p>
        </p:txBody>
      </p:sp>
      <p:sp>
        <p:nvSpPr>
          <p:cNvPr id="30" name="Text 1"/>
          <p:cNvSpPr/>
          <p:nvPr/>
        </p:nvSpPr>
        <p:spPr>
          <a:xfrm>
            <a:off x="1143000" y="1028700"/>
            <a:ext cx="471005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Identified Customer Segments</a:t>
            </a:r>
            <a:endParaRPr lang="en-US" sz="1800" dirty="0"/>
          </a:p>
        </p:txBody>
      </p:sp>
      <p:sp>
        <p:nvSpPr>
          <p:cNvPr id="31" name="Text 2"/>
          <p:cNvSpPr/>
          <p:nvPr/>
        </p:nvSpPr>
        <p:spPr>
          <a:xfrm>
            <a:off x="1181100" y="1619250"/>
            <a:ext cx="12789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Champions</a:t>
            </a:r>
            <a:endParaRPr lang="en-US" sz="1350" dirty="0"/>
          </a:p>
        </p:txBody>
      </p:sp>
      <p:sp>
        <p:nvSpPr>
          <p:cNvPr id="32" name="Text 3"/>
          <p:cNvSpPr/>
          <p:nvPr/>
        </p:nvSpPr>
        <p:spPr>
          <a:xfrm>
            <a:off x="762000" y="1981200"/>
            <a:ext cx="37947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Most recent, most frequent, highest spending</a:t>
            </a:r>
            <a:endParaRPr lang="en-US" sz="1050" dirty="0"/>
          </a:p>
        </p:txBody>
      </p:sp>
      <p:sp>
        <p:nvSpPr>
          <p:cNvPr id="33" name="Text 4"/>
          <p:cNvSpPr/>
          <p:nvPr/>
        </p:nvSpPr>
        <p:spPr>
          <a:xfrm>
            <a:off x="942975" y="2247900"/>
            <a:ext cx="319361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Action: Reward and Retention programs</a:t>
            </a:r>
            <a:endParaRPr lang="en-US" sz="1050" dirty="0"/>
          </a:p>
        </p:txBody>
      </p:sp>
      <p:sp>
        <p:nvSpPr>
          <p:cNvPr id="34" name="Text 5"/>
          <p:cNvSpPr/>
          <p:nvPr/>
        </p:nvSpPr>
        <p:spPr>
          <a:xfrm>
            <a:off x="4800600" y="1619250"/>
            <a:ext cx="192506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Loyal Customers</a:t>
            </a:r>
            <a:endParaRPr lang="en-US" sz="1350" dirty="0"/>
          </a:p>
        </p:txBody>
      </p:sp>
      <p:sp>
        <p:nvSpPr>
          <p:cNvPr id="35" name="Text 6"/>
          <p:cNvSpPr/>
          <p:nvPr/>
        </p:nvSpPr>
        <p:spPr>
          <a:xfrm>
            <a:off x="4381500" y="1981200"/>
            <a:ext cx="31623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 frequency and monetary value, consistent purchasers</a:t>
            </a:r>
            <a:endParaRPr lang="en-US" sz="1050" dirty="0"/>
          </a:p>
        </p:txBody>
      </p:sp>
      <p:sp>
        <p:nvSpPr>
          <p:cNvPr id="36" name="Text 7"/>
          <p:cNvSpPr/>
          <p:nvPr/>
        </p:nvSpPr>
        <p:spPr>
          <a:xfrm>
            <a:off x="4562475" y="2438400"/>
            <a:ext cx="298132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Action: Upselling and new product introductions</a:t>
            </a:r>
            <a:endParaRPr lang="en-US" sz="1050" dirty="0"/>
          </a:p>
        </p:txBody>
      </p:sp>
      <p:sp>
        <p:nvSpPr>
          <p:cNvPr id="37" name="Text 8"/>
          <p:cNvSpPr/>
          <p:nvPr/>
        </p:nvSpPr>
        <p:spPr>
          <a:xfrm>
            <a:off x="1181100" y="3295650"/>
            <a:ext cx="83135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At-Risk</a:t>
            </a:r>
            <a:endParaRPr lang="en-US" sz="1350" dirty="0"/>
          </a:p>
        </p:txBody>
      </p:sp>
      <p:sp>
        <p:nvSpPr>
          <p:cNvPr id="38" name="Text 9"/>
          <p:cNvSpPr/>
          <p:nvPr/>
        </p:nvSpPr>
        <p:spPr>
          <a:xfrm>
            <a:off x="762000" y="3657600"/>
            <a:ext cx="31623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Spent a significant amount but not making recent purchases</a:t>
            </a:r>
            <a:endParaRPr lang="en-US" sz="1050" dirty="0"/>
          </a:p>
        </p:txBody>
      </p:sp>
      <p:sp>
        <p:nvSpPr>
          <p:cNvPr id="39" name="Text 10"/>
          <p:cNvSpPr/>
          <p:nvPr/>
        </p:nvSpPr>
        <p:spPr>
          <a:xfrm>
            <a:off x="942975" y="4114800"/>
            <a:ext cx="351168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Action: Targeted re-engagement campaigns</a:t>
            </a:r>
            <a:endParaRPr lang="en-US" sz="1050" dirty="0"/>
          </a:p>
        </p:txBody>
      </p:sp>
      <p:sp>
        <p:nvSpPr>
          <p:cNvPr id="40" name="Text 11"/>
          <p:cNvSpPr/>
          <p:nvPr/>
        </p:nvSpPr>
        <p:spPr>
          <a:xfrm>
            <a:off x="4800600" y="3295650"/>
            <a:ext cx="49327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Lost</a:t>
            </a:r>
            <a:endParaRPr lang="en-US" sz="1350" dirty="0"/>
          </a:p>
        </p:txBody>
      </p:sp>
      <p:sp>
        <p:nvSpPr>
          <p:cNvPr id="41" name="Text 12"/>
          <p:cNvSpPr/>
          <p:nvPr/>
        </p:nvSpPr>
        <p:spPr>
          <a:xfrm>
            <a:off x="4381500" y="3657600"/>
            <a:ext cx="37947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Low recency, frequency, and monetary values</a:t>
            </a:r>
            <a:endParaRPr lang="en-US" sz="1050" dirty="0"/>
          </a:p>
        </p:txBody>
      </p:sp>
      <p:sp>
        <p:nvSpPr>
          <p:cNvPr id="42" name="Text 13"/>
          <p:cNvSpPr/>
          <p:nvPr/>
        </p:nvSpPr>
        <p:spPr>
          <a:xfrm>
            <a:off x="4562475" y="3924300"/>
            <a:ext cx="298132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Action: Win-back strategies or low-cost outreach</a:t>
            </a:r>
            <a:endParaRPr lang="en-US" sz="1050" dirty="0"/>
          </a:p>
        </p:txBody>
      </p:sp>
      <p:sp>
        <p:nvSpPr>
          <p:cNvPr id="43" name="Text 14"/>
          <p:cNvSpPr/>
          <p:nvPr/>
        </p:nvSpPr>
        <p:spPr>
          <a:xfrm>
            <a:off x="8915400" y="1257300"/>
            <a:ext cx="249745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Revenue Impact</a:t>
            </a:r>
            <a:endParaRPr lang="en-US" sz="1800" dirty="0"/>
          </a:p>
        </p:txBody>
      </p:sp>
      <p:sp>
        <p:nvSpPr>
          <p:cNvPr id="44" name="Text 15"/>
          <p:cNvSpPr/>
          <p:nvPr/>
        </p:nvSpPr>
        <p:spPr>
          <a:xfrm>
            <a:off x="8382000" y="1714500"/>
            <a:ext cx="29718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Top 10% of customers (likely Champions) generate 45% of total revenue</a:t>
            </a:r>
            <a:endParaRPr lang="en-US" sz="1200" dirty="0"/>
          </a:p>
        </p:txBody>
      </p:sp>
      <p:sp>
        <p:nvSpPr>
          <p:cNvPr id="45" name="Text 16"/>
          <p:cNvSpPr/>
          <p:nvPr/>
        </p:nvSpPr>
        <p:spPr>
          <a:xfrm>
            <a:off x="8321040" y="2629502"/>
            <a:ext cx="35661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Strategic Implications:</a:t>
            </a:r>
            <a:endParaRPr lang="en-US" sz="1350" dirty="0"/>
          </a:p>
        </p:txBody>
      </p:sp>
      <p:sp>
        <p:nvSpPr>
          <p:cNvPr id="46" name="Text 17"/>
          <p:cNvSpPr/>
          <p:nvPr/>
        </p:nvSpPr>
        <p:spPr>
          <a:xfrm>
            <a:off x="8496300" y="3120390"/>
            <a:ext cx="2743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Focus on retaining high-value customers</a:t>
            </a:r>
            <a:endParaRPr lang="en-US" sz="1200" dirty="0"/>
          </a:p>
        </p:txBody>
      </p:sp>
      <p:sp>
        <p:nvSpPr>
          <p:cNvPr id="47" name="Text 18"/>
          <p:cNvSpPr/>
          <p:nvPr/>
        </p:nvSpPr>
        <p:spPr>
          <a:xfrm>
            <a:off x="8472547" y="3831557"/>
            <a:ext cx="2743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Develop targeted engagement strategies</a:t>
            </a:r>
            <a:endParaRPr lang="en-US" sz="1200" dirty="0"/>
          </a:p>
        </p:txBody>
      </p:sp>
      <p:sp>
        <p:nvSpPr>
          <p:cNvPr id="48" name="Text 19"/>
          <p:cNvSpPr/>
          <p:nvPr/>
        </p:nvSpPr>
        <p:spPr>
          <a:xfrm>
            <a:off x="8534400" y="4615514"/>
            <a:ext cx="2743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 personalized loyalty programs</a:t>
            </a:r>
            <a:endParaRPr lang="en-US" sz="1200" dirty="0"/>
          </a:p>
        </p:txBody>
      </p:sp>
      <p:sp>
        <p:nvSpPr>
          <p:cNvPr id="49" name="Text 20"/>
          <p:cNvSpPr/>
          <p:nvPr/>
        </p:nvSpPr>
        <p:spPr>
          <a:xfrm>
            <a:off x="609600" y="6934200"/>
            <a:ext cx="42328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DSA 2040A Project: Online Retail Customer Analytics</a:t>
            </a:r>
            <a:endParaRPr lang="en-US" sz="1050" dirty="0"/>
          </a:p>
        </p:txBody>
      </p:sp>
      <p:sp>
        <p:nvSpPr>
          <p:cNvPr id="50" name="Text 21"/>
          <p:cNvSpPr/>
          <p:nvPr/>
        </p:nvSpPr>
        <p:spPr>
          <a:xfrm>
            <a:off x="11367790" y="6934200"/>
            <a:ext cx="25753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4/8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838200"/>
            <a:ext cx="36576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028700"/>
            <a:ext cx="5257800" cy="5410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257300"/>
            <a:ext cx="3810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638" y="1314450"/>
            <a:ext cx="238125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30099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33147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3657600"/>
            <a:ext cx="4800600" cy="1790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600" y="4114800"/>
            <a:ext cx="1985367" cy="609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28367" y="4267200"/>
            <a:ext cx="2286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09367" y="4114800"/>
            <a:ext cx="1977033" cy="609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600" y="1028700"/>
            <a:ext cx="5257800" cy="5410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3200" y="1371600"/>
            <a:ext cx="323404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19577" y="1428750"/>
            <a:ext cx="19050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53200" y="2019300"/>
            <a:ext cx="4800600" cy="381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53200" y="2400300"/>
            <a:ext cx="4800600" cy="723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53200" y="3124200"/>
            <a:ext cx="4800600" cy="723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53200" y="3848100"/>
            <a:ext cx="4800600" cy="723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53200" y="4572000"/>
            <a:ext cx="4800600" cy="7239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53200" y="5295900"/>
            <a:ext cx="4800600" cy="5334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609600" y="381000"/>
            <a:ext cx="131673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Insight 2: Product Associations &amp; Cross-Selling</a:t>
            </a:r>
            <a:endParaRPr lang="en-US" sz="2700" dirty="0"/>
          </a:p>
        </p:txBody>
      </p:sp>
      <p:sp>
        <p:nvSpPr>
          <p:cNvPr id="25" name="Text 1"/>
          <p:cNvSpPr/>
          <p:nvPr/>
        </p:nvSpPr>
        <p:spPr>
          <a:xfrm>
            <a:off x="1371600" y="1295400"/>
            <a:ext cx="361259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Market Basket Analysis</a:t>
            </a:r>
            <a:endParaRPr lang="en-US" sz="1800" dirty="0"/>
          </a:p>
        </p:txBody>
      </p:sp>
      <p:sp>
        <p:nvSpPr>
          <p:cNvPr id="26" name="Text 2"/>
          <p:cNvSpPr/>
          <p:nvPr/>
        </p:nvSpPr>
        <p:spPr>
          <a:xfrm>
            <a:off x="838200" y="1790700"/>
            <a:ext cx="4800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Apriori algorithm identified </a:t>
            </a:r>
            <a:r>
              <a:rPr lang="en-US" sz="12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32 strong association rules</a:t>
            </a: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, with over 15 deemed significant, indicating strong co-occurrence patterns in customer purchases.</a:t>
            </a:r>
            <a:endParaRPr lang="en-US" sz="1200" dirty="0"/>
          </a:p>
        </p:txBody>
      </p:sp>
      <p:sp>
        <p:nvSpPr>
          <p:cNvPr id="27" name="Text 3"/>
          <p:cNvSpPr/>
          <p:nvPr/>
        </p:nvSpPr>
        <p:spPr>
          <a:xfrm>
            <a:off x="838200" y="2628900"/>
            <a:ext cx="4800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Findings:</a:t>
            </a:r>
            <a:endParaRPr lang="en-US" sz="1500" dirty="0"/>
          </a:p>
        </p:txBody>
      </p:sp>
      <p:sp>
        <p:nvSpPr>
          <p:cNvPr id="28" name="Text 4"/>
          <p:cNvSpPr/>
          <p:nvPr/>
        </p:nvSpPr>
        <p:spPr>
          <a:xfrm>
            <a:off x="1104900" y="2971800"/>
            <a:ext cx="534656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 confidence indicates strong likelihood of co-purchase</a:t>
            </a:r>
            <a:endParaRPr lang="en-US" sz="1200" dirty="0"/>
          </a:p>
        </p:txBody>
      </p:sp>
      <p:sp>
        <p:nvSpPr>
          <p:cNvPr id="29" name="Text 5"/>
          <p:cNvSpPr/>
          <p:nvPr/>
        </p:nvSpPr>
        <p:spPr>
          <a:xfrm>
            <a:off x="1104900" y="3276600"/>
            <a:ext cx="465165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 lift values confirm non-random co-occurrence</a:t>
            </a:r>
            <a:endParaRPr lang="en-US" sz="1200" dirty="0"/>
          </a:p>
        </p:txBody>
      </p:sp>
      <p:sp>
        <p:nvSpPr>
          <p:cNvPr id="30" name="Text 6"/>
          <p:cNvSpPr/>
          <p:nvPr/>
        </p:nvSpPr>
        <p:spPr>
          <a:xfrm>
            <a:off x="2490564" y="3819525"/>
            <a:ext cx="149572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highlight>
                  <a:srgbClr val="0F766E"/>
                </a:highlight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Example Rule</a:t>
            </a:r>
            <a:endParaRPr lang="en-US" sz="1050" dirty="0"/>
          </a:p>
        </p:txBody>
      </p:sp>
      <p:sp>
        <p:nvSpPr>
          <p:cNvPr id="31" name="Text 7"/>
          <p:cNvSpPr/>
          <p:nvPr/>
        </p:nvSpPr>
        <p:spPr>
          <a:xfrm>
            <a:off x="1143000" y="4191000"/>
            <a:ext cx="1680567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GREEN REGENCY TEACUP AND SAUCER</a:t>
            </a:r>
            <a:endParaRPr lang="en-US" sz="1200" dirty="0"/>
          </a:p>
        </p:txBody>
      </p:sp>
      <p:sp>
        <p:nvSpPr>
          <p:cNvPr id="32" name="Text 8"/>
          <p:cNvSpPr/>
          <p:nvPr/>
        </p:nvSpPr>
        <p:spPr>
          <a:xfrm>
            <a:off x="3661767" y="4191000"/>
            <a:ext cx="1672233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ROSES REGENCY TEACUP AND SAUCER</a:t>
            </a:r>
            <a:endParaRPr lang="en-US" sz="1200" dirty="0"/>
          </a:p>
        </p:txBody>
      </p:sp>
      <p:sp>
        <p:nvSpPr>
          <p:cNvPr id="33" name="Text 9"/>
          <p:cNvSpPr/>
          <p:nvPr/>
        </p:nvSpPr>
        <p:spPr>
          <a:xfrm>
            <a:off x="2372945" y="4838700"/>
            <a:ext cx="89975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Confidence</a:t>
            </a:r>
            <a:endParaRPr lang="en-US" sz="1050" dirty="0"/>
          </a:p>
        </p:txBody>
      </p:sp>
      <p:sp>
        <p:nvSpPr>
          <p:cNvPr id="34" name="Text 10"/>
          <p:cNvSpPr/>
          <p:nvPr/>
        </p:nvSpPr>
        <p:spPr>
          <a:xfrm>
            <a:off x="2372945" y="5029200"/>
            <a:ext cx="89975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0.7972</a:t>
            </a:r>
            <a:endParaRPr lang="en-US" sz="1500" dirty="0"/>
          </a:p>
        </p:txBody>
      </p:sp>
      <p:sp>
        <p:nvSpPr>
          <p:cNvPr id="35" name="Text 11"/>
          <p:cNvSpPr/>
          <p:nvPr/>
        </p:nvSpPr>
        <p:spPr>
          <a:xfrm>
            <a:off x="3366061" y="4838700"/>
            <a:ext cx="72312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Lift</a:t>
            </a:r>
            <a:endParaRPr lang="en-US" sz="1050" dirty="0"/>
          </a:p>
        </p:txBody>
      </p:sp>
      <p:sp>
        <p:nvSpPr>
          <p:cNvPr id="36" name="Text 12"/>
          <p:cNvSpPr/>
          <p:nvPr/>
        </p:nvSpPr>
        <p:spPr>
          <a:xfrm>
            <a:off x="3366061" y="5029200"/>
            <a:ext cx="72312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25.66</a:t>
            </a:r>
            <a:endParaRPr lang="en-US" sz="1500" dirty="0"/>
          </a:p>
        </p:txBody>
      </p:sp>
      <p:sp>
        <p:nvSpPr>
          <p:cNvPr id="37" name="Text 13"/>
          <p:cNvSpPr/>
          <p:nvPr/>
        </p:nvSpPr>
        <p:spPr>
          <a:xfrm>
            <a:off x="1181100" y="5715000"/>
            <a:ext cx="4343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38" name="Text 14"/>
          <p:cNvSpPr/>
          <p:nvPr/>
        </p:nvSpPr>
        <p:spPr>
          <a:xfrm>
            <a:off x="7029004" y="1257300"/>
            <a:ext cx="4324796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Top 10 Association Rules by Confidence</a:t>
            </a:r>
            <a:endParaRPr lang="en-US" sz="1800" dirty="0"/>
          </a:p>
        </p:txBody>
      </p:sp>
      <p:sp>
        <p:nvSpPr>
          <p:cNvPr id="39" name="Text 15"/>
          <p:cNvSpPr/>
          <p:nvPr/>
        </p:nvSpPr>
        <p:spPr>
          <a:xfrm>
            <a:off x="6667500" y="2019300"/>
            <a:ext cx="175700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Antecedents</a:t>
            </a:r>
            <a:endParaRPr lang="en-US" sz="1200" dirty="0"/>
          </a:p>
        </p:txBody>
      </p:sp>
      <p:sp>
        <p:nvSpPr>
          <p:cNvPr id="40" name="Text 16"/>
          <p:cNvSpPr/>
          <p:nvPr/>
        </p:nvSpPr>
        <p:spPr>
          <a:xfrm>
            <a:off x="8131671" y="2019300"/>
            <a:ext cx="180540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Consequents</a:t>
            </a:r>
            <a:endParaRPr lang="en-US" sz="1200" dirty="0"/>
          </a:p>
        </p:txBody>
      </p:sp>
      <p:sp>
        <p:nvSpPr>
          <p:cNvPr id="41" name="Text 17"/>
          <p:cNvSpPr/>
          <p:nvPr/>
        </p:nvSpPr>
        <p:spPr>
          <a:xfrm>
            <a:off x="9636175" y="2019300"/>
            <a:ext cx="141749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Confidence</a:t>
            </a:r>
            <a:endParaRPr lang="en-US" sz="1200" dirty="0"/>
          </a:p>
        </p:txBody>
      </p:sp>
      <p:sp>
        <p:nvSpPr>
          <p:cNvPr id="42" name="Text 18"/>
          <p:cNvSpPr/>
          <p:nvPr/>
        </p:nvSpPr>
        <p:spPr>
          <a:xfrm>
            <a:off x="10817423" y="2019300"/>
            <a:ext cx="78081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Lift</a:t>
            </a:r>
            <a:endParaRPr lang="en-US" sz="1200" dirty="0"/>
          </a:p>
        </p:txBody>
      </p:sp>
      <p:sp>
        <p:nvSpPr>
          <p:cNvPr id="43" name="Text 19"/>
          <p:cNvSpPr/>
          <p:nvPr/>
        </p:nvSpPr>
        <p:spPr>
          <a:xfrm>
            <a:off x="6667500" y="2400300"/>
            <a:ext cx="1464171" cy="723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GREEN REGENCY TEACUP AND SAUCER</a:t>
            </a:r>
            <a:endParaRPr lang="en-US" sz="1050" dirty="0"/>
          </a:p>
        </p:txBody>
      </p:sp>
      <p:sp>
        <p:nvSpPr>
          <p:cNvPr id="44" name="Text 20"/>
          <p:cNvSpPr/>
          <p:nvPr/>
        </p:nvSpPr>
        <p:spPr>
          <a:xfrm>
            <a:off x="8131671" y="2400300"/>
            <a:ext cx="1504504" cy="723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ROSES REGENCY TEACUP AND SAUCER</a:t>
            </a:r>
            <a:endParaRPr lang="en-US" sz="1050" dirty="0"/>
          </a:p>
        </p:txBody>
      </p:sp>
      <p:sp>
        <p:nvSpPr>
          <p:cNvPr id="45" name="Text 21"/>
          <p:cNvSpPr/>
          <p:nvPr/>
        </p:nvSpPr>
        <p:spPr>
          <a:xfrm>
            <a:off x="9636175" y="2400300"/>
            <a:ext cx="1417499" cy="723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0.7972</a:t>
            </a:r>
            <a:endParaRPr lang="en-US" sz="1050" dirty="0"/>
          </a:p>
        </p:txBody>
      </p:sp>
      <p:sp>
        <p:nvSpPr>
          <p:cNvPr id="46" name="Text 22"/>
          <p:cNvSpPr/>
          <p:nvPr/>
        </p:nvSpPr>
        <p:spPr>
          <a:xfrm>
            <a:off x="10817423" y="2400300"/>
            <a:ext cx="780812" cy="723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25.66</a:t>
            </a:r>
            <a:endParaRPr lang="en-US" sz="1050" dirty="0"/>
          </a:p>
        </p:txBody>
      </p:sp>
      <p:sp>
        <p:nvSpPr>
          <p:cNvPr id="47" name="Text 23"/>
          <p:cNvSpPr/>
          <p:nvPr/>
        </p:nvSpPr>
        <p:spPr>
          <a:xfrm>
            <a:off x="6667500" y="3124200"/>
            <a:ext cx="1464171" cy="723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 HANGING HEART T-LIGHT HOLDER</a:t>
            </a:r>
            <a:endParaRPr lang="en-US" sz="1050" dirty="0"/>
          </a:p>
        </p:txBody>
      </p:sp>
      <p:sp>
        <p:nvSpPr>
          <p:cNvPr id="48" name="Text 24"/>
          <p:cNvSpPr/>
          <p:nvPr/>
        </p:nvSpPr>
        <p:spPr>
          <a:xfrm>
            <a:off x="8131671" y="3124200"/>
            <a:ext cx="1504504" cy="723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WHITE HANGING HEART T-LIGHT HOLDER</a:t>
            </a:r>
            <a:endParaRPr lang="en-US" sz="1050" dirty="0"/>
          </a:p>
        </p:txBody>
      </p:sp>
      <p:sp>
        <p:nvSpPr>
          <p:cNvPr id="49" name="Text 25"/>
          <p:cNvSpPr/>
          <p:nvPr/>
        </p:nvSpPr>
        <p:spPr>
          <a:xfrm>
            <a:off x="9636175" y="3124200"/>
            <a:ext cx="1417499" cy="723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0.7087</a:t>
            </a:r>
            <a:endParaRPr lang="en-US" sz="1050" dirty="0"/>
          </a:p>
        </p:txBody>
      </p:sp>
      <p:sp>
        <p:nvSpPr>
          <p:cNvPr id="50" name="Text 26"/>
          <p:cNvSpPr/>
          <p:nvPr/>
        </p:nvSpPr>
        <p:spPr>
          <a:xfrm>
            <a:off x="10817423" y="3124200"/>
            <a:ext cx="780812" cy="723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4.97</a:t>
            </a:r>
            <a:endParaRPr lang="en-US" sz="1050" dirty="0"/>
          </a:p>
        </p:txBody>
      </p:sp>
      <p:sp>
        <p:nvSpPr>
          <p:cNvPr id="51" name="Text 27"/>
          <p:cNvSpPr/>
          <p:nvPr/>
        </p:nvSpPr>
        <p:spPr>
          <a:xfrm>
            <a:off x="6667500" y="3848100"/>
            <a:ext cx="1464171" cy="723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ROSES REGENCY TEACUP AND SAUCER</a:t>
            </a:r>
            <a:endParaRPr lang="en-US" sz="1050" dirty="0"/>
          </a:p>
        </p:txBody>
      </p:sp>
      <p:sp>
        <p:nvSpPr>
          <p:cNvPr id="52" name="Text 28"/>
          <p:cNvSpPr/>
          <p:nvPr/>
        </p:nvSpPr>
        <p:spPr>
          <a:xfrm>
            <a:off x="8131671" y="3848100"/>
            <a:ext cx="1504504" cy="723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GREEN REGENCY TEACUP AND SAUCER</a:t>
            </a:r>
            <a:endParaRPr lang="en-US" sz="1050" dirty="0"/>
          </a:p>
        </p:txBody>
      </p:sp>
      <p:sp>
        <p:nvSpPr>
          <p:cNvPr id="53" name="Text 29"/>
          <p:cNvSpPr/>
          <p:nvPr/>
        </p:nvSpPr>
        <p:spPr>
          <a:xfrm>
            <a:off x="9636175" y="3848100"/>
            <a:ext cx="1417499" cy="723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0.7056</a:t>
            </a:r>
            <a:endParaRPr lang="en-US" sz="1050" dirty="0"/>
          </a:p>
        </p:txBody>
      </p:sp>
      <p:sp>
        <p:nvSpPr>
          <p:cNvPr id="54" name="Text 30"/>
          <p:cNvSpPr/>
          <p:nvPr/>
        </p:nvSpPr>
        <p:spPr>
          <a:xfrm>
            <a:off x="10817423" y="3848100"/>
            <a:ext cx="780812" cy="723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25.66</a:t>
            </a:r>
            <a:endParaRPr lang="en-US" sz="1050" dirty="0"/>
          </a:p>
        </p:txBody>
      </p:sp>
      <p:sp>
        <p:nvSpPr>
          <p:cNvPr id="55" name="Text 31"/>
          <p:cNvSpPr/>
          <p:nvPr/>
        </p:nvSpPr>
        <p:spPr>
          <a:xfrm>
            <a:off x="6667500" y="4572000"/>
            <a:ext cx="1464171" cy="723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SWEETHEART CERAMIC TRINKET BOX</a:t>
            </a:r>
            <a:endParaRPr lang="en-US" sz="1050" dirty="0"/>
          </a:p>
        </p:txBody>
      </p:sp>
      <p:sp>
        <p:nvSpPr>
          <p:cNvPr id="56" name="Text 32"/>
          <p:cNvSpPr/>
          <p:nvPr/>
        </p:nvSpPr>
        <p:spPr>
          <a:xfrm>
            <a:off x="8131671" y="4572000"/>
            <a:ext cx="1504504" cy="723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STRAWBERRY CERAMIC TRINKET BOX</a:t>
            </a:r>
            <a:endParaRPr lang="en-US" sz="1050" dirty="0"/>
          </a:p>
        </p:txBody>
      </p:sp>
      <p:sp>
        <p:nvSpPr>
          <p:cNvPr id="57" name="Text 33"/>
          <p:cNvSpPr/>
          <p:nvPr/>
        </p:nvSpPr>
        <p:spPr>
          <a:xfrm>
            <a:off x="9636175" y="4572000"/>
            <a:ext cx="1417499" cy="723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0.6989</a:t>
            </a:r>
            <a:endParaRPr lang="en-US" sz="1050" dirty="0"/>
          </a:p>
        </p:txBody>
      </p:sp>
      <p:sp>
        <p:nvSpPr>
          <p:cNvPr id="58" name="Text 34"/>
          <p:cNvSpPr/>
          <p:nvPr/>
        </p:nvSpPr>
        <p:spPr>
          <a:xfrm>
            <a:off x="10817423" y="4572000"/>
            <a:ext cx="780812" cy="723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13.07</a:t>
            </a:r>
            <a:endParaRPr lang="en-US" sz="1050" dirty="0"/>
          </a:p>
        </p:txBody>
      </p:sp>
      <p:sp>
        <p:nvSpPr>
          <p:cNvPr id="59" name="Text 35"/>
          <p:cNvSpPr/>
          <p:nvPr/>
        </p:nvSpPr>
        <p:spPr>
          <a:xfrm>
            <a:off x="6667500" y="5295900"/>
            <a:ext cx="146417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ALARM CLOCK BAKELIKE GREEN</a:t>
            </a:r>
            <a:endParaRPr lang="en-US" sz="1050" dirty="0"/>
          </a:p>
        </p:txBody>
      </p:sp>
      <p:sp>
        <p:nvSpPr>
          <p:cNvPr id="60" name="Text 36"/>
          <p:cNvSpPr/>
          <p:nvPr/>
        </p:nvSpPr>
        <p:spPr>
          <a:xfrm>
            <a:off x="8131671" y="5295900"/>
            <a:ext cx="1504504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ALARM CLOCK BAKELIKE RED</a:t>
            </a:r>
            <a:endParaRPr lang="en-US" sz="1050" dirty="0"/>
          </a:p>
        </p:txBody>
      </p:sp>
      <p:sp>
        <p:nvSpPr>
          <p:cNvPr id="61" name="Text 37"/>
          <p:cNvSpPr/>
          <p:nvPr/>
        </p:nvSpPr>
        <p:spPr>
          <a:xfrm>
            <a:off x="9636175" y="5295900"/>
            <a:ext cx="1417499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0.6776</a:t>
            </a:r>
            <a:endParaRPr lang="en-US" sz="1050" dirty="0"/>
          </a:p>
        </p:txBody>
      </p:sp>
      <p:sp>
        <p:nvSpPr>
          <p:cNvPr id="62" name="Text 38"/>
          <p:cNvSpPr/>
          <p:nvPr/>
        </p:nvSpPr>
        <p:spPr>
          <a:xfrm>
            <a:off x="10817423" y="5295900"/>
            <a:ext cx="780812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20.08</a:t>
            </a:r>
            <a:endParaRPr lang="en-US" sz="1050" dirty="0"/>
          </a:p>
        </p:txBody>
      </p:sp>
      <p:sp>
        <p:nvSpPr>
          <p:cNvPr id="64" name="Text 40"/>
          <p:cNvSpPr/>
          <p:nvPr/>
        </p:nvSpPr>
        <p:spPr>
          <a:xfrm>
            <a:off x="11367790" y="6896100"/>
            <a:ext cx="25753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5/8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838200"/>
            <a:ext cx="36576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028700"/>
            <a:ext cx="5257800" cy="5105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174" y="2197768"/>
            <a:ext cx="3048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13335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600" y="1028700"/>
            <a:ext cx="5257800" cy="5105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200" y="1257300"/>
            <a:ext cx="3048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8450" y="1333500"/>
            <a:ext cx="1143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3200" y="1676400"/>
            <a:ext cx="4800600" cy="876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29400" y="1752600"/>
            <a:ext cx="3048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15125" y="1828800"/>
            <a:ext cx="13335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3200" y="2667000"/>
            <a:ext cx="4800600" cy="8763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29400" y="2743200"/>
            <a:ext cx="3048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05600" y="28194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53200" y="3657600"/>
            <a:ext cx="4800600" cy="1104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29400" y="3733800"/>
            <a:ext cx="3048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24650" y="3810000"/>
            <a:ext cx="1143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3200" y="4876800"/>
            <a:ext cx="4800600" cy="8763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29400" y="4953000"/>
            <a:ext cx="30480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96075" y="5029200"/>
            <a:ext cx="171450" cy="1524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609600" y="381000"/>
            <a:ext cx="131673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Insight 3: Sales &amp; Temporal Trends</a:t>
            </a:r>
            <a:endParaRPr lang="en-US" sz="2700" dirty="0"/>
          </a:p>
        </p:txBody>
      </p:sp>
      <p:sp>
        <p:nvSpPr>
          <p:cNvPr id="24" name="Text 1"/>
          <p:cNvSpPr/>
          <p:nvPr/>
        </p:nvSpPr>
        <p:spPr>
          <a:xfrm>
            <a:off x="1257300" y="2171700"/>
            <a:ext cx="287107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Seasonal Sales Trends</a:t>
            </a:r>
            <a:endParaRPr lang="en-US" sz="1500" dirty="0"/>
          </a:p>
        </p:txBody>
      </p:sp>
      <p:sp>
        <p:nvSpPr>
          <p:cNvPr id="25" name="Text 2"/>
          <p:cNvSpPr/>
          <p:nvPr/>
        </p:nvSpPr>
        <p:spPr>
          <a:xfrm>
            <a:off x="838200" y="2705100"/>
            <a:ext cx="4800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Exploratory Data Analysis and Prophet forecasting revealed distinct temporal patterns in customer purchasing behavior.</a:t>
            </a:r>
            <a:endParaRPr lang="en-US" sz="1200" dirty="0"/>
          </a:p>
        </p:txBody>
      </p:sp>
      <p:sp>
        <p:nvSpPr>
          <p:cNvPr id="26" name="Text 3"/>
          <p:cNvSpPr/>
          <p:nvPr/>
        </p:nvSpPr>
        <p:spPr>
          <a:xfrm>
            <a:off x="6972300" y="1276350"/>
            <a:ext cx="1658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27" name="Text 4"/>
          <p:cNvSpPr/>
          <p:nvPr/>
        </p:nvSpPr>
        <p:spPr>
          <a:xfrm>
            <a:off x="7048500" y="1752600"/>
            <a:ext cx="4229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Seasonal Peak</a:t>
            </a:r>
            <a:endParaRPr lang="en-US" sz="1350" dirty="0"/>
          </a:p>
        </p:txBody>
      </p:sp>
      <p:sp>
        <p:nvSpPr>
          <p:cNvPr id="28" name="Text 5"/>
          <p:cNvSpPr/>
          <p:nvPr/>
        </p:nvSpPr>
        <p:spPr>
          <a:xfrm>
            <a:off x="7048500" y="2019300"/>
            <a:ext cx="4229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Significant Q4 peak in sales revenue, likely influenced by holiday shopping.</a:t>
            </a:r>
            <a:endParaRPr lang="en-US" sz="1200" dirty="0"/>
          </a:p>
        </p:txBody>
      </p:sp>
      <p:sp>
        <p:nvSpPr>
          <p:cNvPr id="29" name="Text 6"/>
          <p:cNvSpPr/>
          <p:nvPr/>
        </p:nvSpPr>
        <p:spPr>
          <a:xfrm>
            <a:off x="7048500" y="2743200"/>
            <a:ext cx="4229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Daily Patterns</a:t>
            </a:r>
            <a:endParaRPr lang="en-US" sz="1350" dirty="0"/>
          </a:p>
        </p:txBody>
      </p:sp>
      <p:sp>
        <p:nvSpPr>
          <p:cNvPr id="30" name="Text 7"/>
          <p:cNvSpPr/>
          <p:nvPr/>
        </p:nvSpPr>
        <p:spPr>
          <a:xfrm>
            <a:off x="7048500" y="3009900"/>
            <a:ext cx="4229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Specific peak purchasing days and times identified, offering insights into customer shopping habits.</a:t>
            </a:r>
            <a:endParaRPr lang="en-US" sz="1200" dirty="0"/>
          </a:p>
        </p:txBody>
      </p:sp>
      <p:sp>
        <p:nvSpPr>
          <p:cNvPr id="31" name="Text 8"/>
          <p:cNvSpPr/>
          <p:nvPr/>
        </p:nvSpPr>
        <p:spPr>
          <a:xfrm>
            <a:off x="7048500" y="3733800"/>
            <a:ext cx="50749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Geographical Analysis</a:t>
            </a:r>
            <a:endParaRPr lang="en-US" sz="1350" dirty="0"/>
          </a:p>
        </p:txBody>
      </p:sp>
      <p:sp>
        <p:nvSpPr>
          <p:cNvPr id="32" name="Text 9"/>
          <p:cNvSpPr/>
          <p:nvPr/>
        </p:nvSpPr>
        <p:spPr>
          <a:xfrm>
            <a:off x="7048500" y="4000500"/>
            <a:ext cx="42291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revenue-generating regions identified, with UK being a prominent contributor. Total revenue: $17,374,804.27.</a:t>
            </a:r>
            <a:endParaRPr lang="en-US" sz="1200" dirty="0"/>
          </a:p>
        </p:txBody>
      </p:sp>
      <p:sp>
        <p:nvSpPr>
          <p:cNvPr id="33" name="Text 10"/>
          <p:cNvSpPr/>
          <p:nvPr/>
        </p:nvSpPr>
        <p:spPr>
          <a:xfrm>
            <a:off x="7048500" y="4953000"/>
            <a:ext cx="4229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Daily Revenue Trend</a:t>
            </a:r>
            <a:endParaRPr lang="en-US" sz="1350" dirty="0"/>
          </a:p>
        </p:txBody>
      </p:sp>
      <p:sp>
        <p:nvSpPr>
          <p:cNvPr id="34" name="Text 11"/>
          <p:cNvSpPr/>
          <p:nvPr/>
        </p:nvSpPr>
        <p:spPr>
          <a:xfrm>
            <a:off x="7048500" y="5219700"/>
            <a:ext cx="4229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Average daily revenue of $28,766.23 across 604 days, highlighting fluctuations over time.</a:t>
            </a:r>
            <a:endParaRPr lang="en-US" sz="1200" dirty="0"/>
          </a:p>
        </p:txBody>
      </p:sp>
      <p:sp>
        <p:nvSpPr>
          <p:cNvPr id="36" name="Text 13"/>
          <p:cNvSpPr/>
          <p:nvPr/>
        </p:nvSpPr>
        <p:spPr>
          <a:xfrm>
            <a:off x="11367790" y="6515100"/>
            <a:ext cx="25753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6/8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838200"/>
            <a:ext cx="36576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028700"/>
            <a:ext cx="3505200" cy="5029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409700"/>
            <a:ext cx="438299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8213" y="1504950"/>
            <a:ext cx="238125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2171700"/>
            <a:ext cx="3048000" cy="457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28194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33909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37338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40767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8471" y="5486400"/>
            <a:ext cx="1567309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30871" y="5581650"/>
            <a:ext cx="133350" cy="1333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1028700"/>
            <a:ext cx="3505200" cy="5029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0" y="1295400"/>
            <a:ext cx="457200" cy="457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05350" y="1390650"/>
            <a:ext cx="190500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0" y="1943100"/>
            <a:ext cx="3048000" cy="457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0" y="25908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0" y="31623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0" y="37338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0" y="40767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16872" y="5486400"/>
            <a:ext cx="1758255" cy="3429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69272" y="5581650"/>
            <a:ext cx="133350" cy="1333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1028700"/>
            <a:ext cx="3505200" cy="50292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05800" y="1295400"/>
            <a:ext cx="457200" cy="4572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15338" y="1390650"/>
            <a:ext cx="238125" cy="2667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05800" y="1943100"/>
            <a:ext cx="3048000" cy="4572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5800" y="2590800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5800" y="2933700"/>
            <a:ext cx="1524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5800" y="3276600"/>
            <a:ext cx="1524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5800" y="3619500"/>
            <a:ext cx="15240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996809" y="5486400"/>
            <a:ext cx="1665982" cy="3429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49209" y="5581650"/>
            <a:ext cx="133350" cy="133350"/>
          </a:xfrm>
          <a:prstGeom prst="rect">
            <a:avLst/>
          </a:prstGeom>
        </p:spPr>
      </p:pic>
      <p:sp>
        <p:nvSpPr>
          <p:cNvPr id="34" name="Text 0"/>
          <p:cNvSpPr/>
          <p:nvPr/>
        </p:nvSpPr>
        <p:spPr>
          <a:xfrm>
            <a:off x="609600" y="3810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Team Contributions</a:t>
            </a:r>
            <a:endParaRPr lang="en-US" sz="2700" dirty="0"/>
          </a:p>
        </p:txBody>
      </p:sp>
      <p:sp>
        <p:nvSpPr>
          <p:cNvPr id="35" name="Text 1"/>
          <p:cNvSpPr/>
          <p:nvPr/>
        </p:nvSpPr>
        <p:spPr>
          <a:xfrm>
            <a:off x="1428899" y="1257300"/>
            <a:ext cx="294876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Chiadika Elue</a:t>
            </a:r>
            <a:endParaRPr lang="en-US" sz="1800" dirty="0"/>
          </a:p>
        </p:txBody>
      </p:sp>
      <p:sp>
        <p:nvSpPr>
          <p:cNvPr id="36" name="Text 2"/>
          <p:cNvSpPr/>
          <p:nvPr/>
        </p:nvSpPr>
        <p:spPr>
          <a:xfrm>
            <a:off x="1428899" y="1562100"/>
            <a:ext cx="24573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ETL Lead &amp; Dashboard Developer</a:t>
            </a:r>
            <a:endParaRPr lang="en-US" sz="1200" dirty="0"/>
          </a:p>
        </p:txBody>
      </p:sp>
      <p:sp>
        <p:nvSpPr>
          <p:cNvPr id="37" name="Text 3"/>
          <p:cNvSpPr/>
          <p:nvPr/>
        </p:nvSpPr>
        <p:spPr>
          <a:xfrm>
            <a:off x="952500" y="2286000"/>
            <a:ext cx="3383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15E5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Focus Areas:</a:t>
            </a:r>
            <a:endParaRPr lang="en-US" sz="1200" dirty="0"/>
          </a:p>
        </p:txBody>
      </p:sp>
      <p:sp>
        <p:nvSpPr>
          <p:cNvPr id="38" name="Text 4"/>
          <p:cNvSpPr/>
          <p:nvPr/>
        </p:nvSpPr>
        <p:spPr>
          <a:xfrm>
            <a:off x="1104900" y="2781300"/>
            <a:ext cx="27813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Complete ETL Pipeline implementation</a:t>
            </a:r>
            <a:endParaRPr lang="en-US" sz="1200" dirty="0"/>
          </a:p>
        </p:txBody>
      </p:sp>
      <p:sp>
        <p:nvSpPr>
          <p:cNvPr id="39" name="Text 5"/>
          <p:cNvSpPr/>
          <p:nvPr/>
        </p:nvSpPr>
        <p:spPr>
          <a:xfrm>
            <a:off x="1104900" y="3352800"/>
            <a:ext cx="229475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RFM Feature Engineering</a:t>
            </a:r>
            <a:endParaRPr lang="en-US" sz="1200" dirty="0"/>
          </a:p>
        </p:txBody>
      </p:sp>
      <p:sp>
        <p:nvSpPr>
          <p:cNvPr id="40" name="Text 6"/>
          <p:cNvSpPr/>
          <p:nvPr/>
        </p:nvSpPr>
        <p:spPr>
          <a:xfrm>
            <a:off x="1104900" y="3695700"/>
            <a:ext cx="302984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Insights Dashboard development</a:t>
            </a:r>
            <a:endParaRPr lang="en-US" sz="1200" dirty="0"/>
          </a:p>
        </p:txBody>
      </p:sp>
      <p:sp>
        <p:nvSpPr>
          <p:cNvPr id="41" name="Text 7"/>
          <p:cNvSpPr/>
          <p:nvPr/>
        </p:nvSpPr>
        <p:spPr>
          <a:xfrm>
            <a:off x="1104900" y="4038600"/>
            <a:ext cx="21818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Final Recommendations</a:t>
            </a:r>
            <a:endParaRPr lang="en-US" sz="1200" dirty="0"/>
          </a:p>
        </p:txBody>
      </p:sp>
      <p:sp>
        <p:nvSpPr>
          <p:cNvPr id="42" name="Text 8"/>
          <p:cNvSpPr/>
          <p:nvPr/>
        </p:nvSpPr>
        <p:spPr>
          <a:xfrm>
            <a:off x="1940421" y="5486400"/>
            <a:ext cx="1880771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Primary Analyst</a:t>
            </a:r>
            <a:endParaRPr lang="en-US" sz="1050" dirty="0"/>
          </a:p>
        </p:txBody>
      </p:sp>
      <p:sp>
        <p:nvSpPr>
          <p:cNvPr id="43" name="Text 9"/>
          <p:cNvSpPr/>
          <p:nvPr/>
        </p:nvSpPr>
        <p:spPr>
          <a:xfrm>
            <a:off x="5181600" y="1257300"/>
            <a:ext cx="274587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Keyshia Mideva</a:t>
            </a:r>
            <a:endParaRPr lang="en-US" sz="1800" dirty="0"/>
          </a:p>
        </p:txBody>
      </p:sp>
      <p:sp>
        <p:nvSpPr>
          <p:cNvPr id="44" name="Text 10"/>
          <p:cNvSpPr/>
          <p:nvPr/>
        </p:nvSpPr>
        <p:spPr>
          <a:xfrm>
            <a:off x="5181600" y="1562100"/>
            <a:ext cx="274587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Analyst &amp; EDA Specialist</a:t>
            </a:r>
            <a:endParaRPr lang="en-US" sz="1200" dirty="0"/>
          </a:p>
        </p:txBody>
      </p:sp>
      <p:sp>
        <p:nvSpPr>
          <p:cNvPr id="45" name="Text 11"/>
          <p:cNvSpPr/>
          <p:nvPr/>
        </p:nvSpPr>
        <p:spPr>
          <a:xfrm>
            <a:off x="4686300" y="2057400"/>
            <a:ext cx="3383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A341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Focus Areas:</a:t>
            </a:r>
            <a:endParaRPr lang="en-US" sz="1200" dirty="0"/>
          </a:p>
        </p:txBody>
      </p:sp>
      <p:sp>
        <p:nvSpPr>
          <p:cNvPr id="46" name="Text 12"/>
          <p:cNvSpPr/>
          <p:nvPr/>
        </p:nvSpPr>
        <p:spPr>
          <a:xfrm>
            <a:off x="4838700" y="2552700"/>
            <a:ext cx="27813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Comprehensive Exploratory Data Analysis</a:t>
            </a:r>
            <a:endParaRPr lang="en-US" sz="1200" dirty="0"/>
          </a:p>
        </p:txBody>
      </p:sp>
      <p:sp>
        <p:nvSpPr>
          <p:cNvPr id="47" name="Text 13"/>
          <p:cNvSpPr/>
          <p:nvPr/>
        </p:nvSpPr>
        <p:spPr>
          <a:xfrm>
            <a:off x="4838700" y="3124200"/>
            <a:ext cx="27813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Statistical, Temporal, Geographical analysis</a:t>
            </a:r>
            <a:endParaRPr lang="en-US" sz="1200" dirty="0"/>
          </a:p>
        </p:txBody>
      </p:sp>
      <p:sp>
        <p:nvSpPr>
          <p:cNvPr id="48" name="Text 14"/>
          <p:cNvSpPr/>
          <p:nvPr/>
        </p:nvSpPr>
        <p:spPr>
          <a:xfrm>
            <a:off x="4838700" y="3695700"/>
            <a:ext cx="283481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Correlation &amp; Outlier Detection</a:t>
            </a:r>
            <a:endParaRPr lang="en-US" sz="1200" dirty="0"/>
          </a:p>
        </p:txBody>
      </p:sp>
      <p:sp>
        <p:nvSpPr>
          <p:cNvPr id="49" name="Text 15"/>
          <p:cNvSpPr/>
          <p:nvPr/>
        </p:nvSpPr>
        <p:spPr>
          <a:xfrm>
            <a:off x="4838700" y="4038600"/>
            <a:ext cx="208436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Findings Summary</a:t>
            </a:r>
            <a:endParaRPr lang="en-US" sz="1200" dirty="0"/>
          </a:p>
        </p:txBody>
      </p:sp>
      <p:sp>
        <p:nvSpPr>
          <p:cNvPr id="50" name="Text 16"/>
          <p:cNvSpPr/>
          <p:nvPr/>
        </p:nvSpPr>
        <p:spPr>
          <a:xfrm>
            <a:off x="5578822" y="5486400"/>
            <a:ext cx="210990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Secondary Analyst</a:t>
            </a:r>
            <a:endParaRPr lang="en-US" sz="1050" dirty="0"/>
          </a:p>
        </p:txBody>
      </p:sp>
      <p:sp>
        <p:nvSpPr>
          <p:cNvPr id="51" name="Text 17"/>
          <p:cNvSpPr/>
          <p:nvPr/>
        </p:nvSpPr>
        <p:spPr>
          <a:xfrm>
            <a:off x="8915400" y="1257300"/>
            <a:ext cx="21945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Nelisa Wacera</a:t>
            </a:r>
            <a:endParaRPr lang="en-US" sz="1800" dirty="0"/>
          </a:p>
        </p:txBody>
      </p:sp>
      <p:sp>
        <p:nvSpPr>
          <p:cNvPr id="52" name="Text 18"/>
          <p:cNvSpPr/>
          <p:nvPr/>
        </p:nvSpPr>
        <p:spPr>
          <a:xfrm>
            <a:off x="8915400" y="1562100"/>
            <a:ext cx="21945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Mining Engineer</a:t>
            </a:r>
            <a:endParaRPr lang="en-US" sz="1200" dirty="0"/>
          </a:p>
        </p:txBody>
      </p:sp>
      <p:sp>
        <p:nvSpPr>
          <p:cNvPr id="53" name="Text 19"/>
          <p:cNvSpPr/>
          <p:nvPr/>
        </p:nvSpPr>
        <p:spPr>
          <a:xfrm>
            <a:off x="8420100" y="2057400"/>
            <a:ext cx="3383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15E5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Focus Areas:</a:t>
            </a:r>
            <a:endParaRPr lang="en-US" sz="1200" dirty="0"/>
          </a:p>
        </p:txBody>
      </p:sp>
      <p:sp>
        <p:nvSpPr>
          <p:cNvPr id="54" name="Text 20"/>
          <p:cNvSpPr/>
          <p:nvPr/>
        </p:nvSpPr>
        <p:spPr>
          <a:xfrm>
            <a:off x="8572500" y="2552700"/>
            <a:ext cx="326058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K-Means Clustering Implementation</a:t>
            </a:r>
            <a:endParaRPr lang="en-US" sz="1200" dirty="0"/>
          </a:p>
        </p:txBody>
      </p:sp>
      <p:sp>
        <p:nvSpPr>
          <p:cNvPr id="55" name="Text 21"/>
          <p:cNvSpPr/>
          <p:nvPr/>
        </p:nvSpPr>
        <p:spPr>
          <a:xfrm>
            <a:off x="8572500" y="2895600"/>
            <a:ext cx="308770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Apriori for Market Basket Analysis</a:t>
            </a:r>
            <a:endParaRPr lang="en-US" sz="1200" dirty="0"/>
          </a:p>
        </p:txBody>
      </p:sp>
      <p:sp>
        <p:nvSpPr>
          <p:cNvPr id="56" name="Text 22"/>
          <p:cNvSpPr/>
          <p:nvPr/>
        </p:nvSpPr>
        <p:spPr>
          <a:xfrm>
            <a:off x="8572500" y="3238500"/>
            <a:ext cx="267747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Time Series Data Preparation</a:t>
            </a:r>
            <a:endParaRPr lang="en-US" sz="1200" dirty="0"/>
          </a:p>
        </p:txBody>
      </p:sp>
      <p:sp>
        <p:nvSpPr>
          <p:cNvPr id="57" name="Text 23"/>
          <p:cNvSpPr/>
          <p:nvPr/>
        </p:nvSpPr>
        <p:spPr>
          <a:xfrm>
            <a:off x="8572500" y="3581400"/>
            <a:ext cx="156858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Mining Validation</a:t>
            </a:r>
            <a:endParaRPr lang="en-US" sz="1200" dirty="0"/>
          </a:p>
        </p:txBody>
      </p:sp>
      <p:sp>
        <p:nvSpPr>
          <p:cNvPr id="58" name="Text 24"/>
          <p:cNvSpPr/>
          <p:nvPr/>
        </p:nvSpPr>
        <p:spPr>
          <a:xfrm>
            <a:off x="9358759" y="5486400"/>
            <a:ext cx="1999178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Primary Engineer</a:t>
            </a:r>
            <a:endParaRPr lang="en-US" sz="1050" dirty="0"/>
          </a:p>
        </p:txBody>
      </p:sp>
      <p:sp>
        <p:nvSpPr>
          <p:cNvPr id="60" name="Text 26"/>
          <p:cNvSpPr/>
          <p:nvPr/>
        </p:nvSpPr>
        <p:spPr>
          <a:xfrm>
            <a:off x="11367790" y="6515100"/>
            <a:ext cx="25753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7/8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838200"/>
            <a:ext cx="36576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028700"/>
            <a:ext cx="304800" cy="304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104900"/>
            <a:ext cx="152400" cy="152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700" y="1485900"/>
            <a:ext cx="5162550" cy="1447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1100" y="1638300"/>
            <a:ext cx="3810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5400" y="17526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9850" y="1485900"/>
            <a:ext cx="5162550" cy="1447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0" y="1638300"/>
            <a:ext cx="3810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7025" y="1752600"/>
            <a:ext cx="1714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8700" y="3162300"/>
            <a:ext cx="5162550" cy="1219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1100" y="3314700"/>
            <a:ext cx="381000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85875" y="3429000"/>
            <a:ext cx="17145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19850" y="3162300"/>
            <a:ext cx="5162550" cy="1219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0" y="3314700"/>
            <a:ext cx="38100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86550" y="3429000"/>
            <a:ext cx="152400" cy="1524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609600" y="381000"/>
            <a:ext cx="131673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Conclusion &amp; Strategic Roadmap</a:t>
            </a:r>
            <a:endParaRPr lang="en-US" sz="2700" dirty="0"/>
          </a:p>
        </p:txBody>
      </p:sp>
      <p:sp>
        <p:nvSpPr>
          <p:cNvPr id="20" name="Text 1"/>
          <p:cNvSpPr/>
          <p:nvPr/>
        </p:nvSpPr>
        <p:spPr>
          <a:xfrm>
            <a:off x="1028700" y="1028700"/>
            <a:ext cx="436983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Strategic Recommendations</a:t>
            </a:r>
            <a:endParaRPr lang="en-US" sz="1800" dirty="0"/>
          </a:p>
        </p:txBody>
      </p:sp>
      <p:sp>
        <p:nvSpPr>
          <p:cNvPr id="21" name="Text 2"/>
          <p:cNvSpPr/>
          <p:nvPr/>
        </p:nvSpPr>
        <p:spPr>
          <a:xfrm>
            <a:off x="1676400" y="1695450"/>
            <a:ext cx="252924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22" name="Text 3"/>
          <p:cNvSpPr/>
          <p:nvPr/>
        </p:nvSpPr>
        <p:spPr>
          <a:xfrm>
            <a:off x="1181100" y="2095500"/>
            <a:ext cx="4857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 campaigns tailored to the 4 RFM segments to maximize engagement and conversion rates.</a:t>
            </a:r>
            <a:endParaRPr lang="en-US" sz="1200" dirty="0"/>
          </a:p>
        </p:txBody>
      </p:sp>
      <p:sp>
        <p:nvSpPr>
          <p:cNvPr id="23" name="Text 4"/>
          <p:cNvSpPr/>
          <p:nvPr/>
        </p:nvSpPr>
        <p:spPr>
          <a:xfrm>
            <a:off x="7067550" y="1695450"/>
            <a:ext cx="33148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E-commerce Optimization</a:t>
            </a:r>
            <a:endParaRPr lang="en-US" sz="1500" dirty="0"/>
          </a:p>
        </p:txBody>
      </p:sp>
      <p:sp>
        <p:nvSpPr>
          <p:cNvPr id="24" name="Text 5"/>
          <p:cNvSpPr/>
          <p:nvPr/>
        </p:nvSpPr>
        <p:spPr>
          <a:xfrm>
            <a:off x="6572250" y="2095500"/>
            <a:ext cx="48577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 association rules to create personalized product recommendations and bundles, enhancing cross-selling potential.</a:t>
            </a:r>
            <a:endParaRPr lang="en-US" sz="1200" dirty="0"/>
          </a:p>
        </p:txBody>
      </p:sp>
      <p:sp>
        <p:nvSpPr>
          <p:cNvPr id="25" name="Text 6"/>
          <p:cNvSpPr/>
          <p:nvPr/>
        </p:nvSpPr>
        <p:spPr>
          <a:xfrm>
            <a:off x="1676400" y="3371850"/>
            <a:ext cx="300501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Inventory Management</a:t>
            </a:r>
            <a:endParaRPr lang="en-US" sz="1500" dirty="0"/>
          </a:p>
        </p:txBody>
      </p:sp>
      <p:sp>
        <p:nvSpPr>
          <p:cNvPr id="26" name="Text 7"/>
          <p:cNvSpPr/>
          <p:nvPr/>
        </p:nvSpPr>
        <p:spPr>
          <a:xfrm>
            <a:off x="1181100" y="3771900"/>
            <a:ext cx="4857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Leverage time series forecasts to optimize inventory levels, particularly for seasonal demand peaks.</a:t>
            </a:r>
            <a:endParaRPr lang="en-US" sz="1200" dirty="0"/>
          </a:p>
        </p:txBody>
      </p:sp>
      <p:sp>
        <p:nvSpPr>
          <p:cNvPr id="27" name="Text 8"/>
          <p:cNvSpPr/>
          <p:nvPr/>
        </p:nvSpPr>
        <p:spPr>
          <a:xfrm>
            <a:off x="7067550" y="3371850"/>
            <a:ext cx="303198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Dashboard Deployment</a:t>
            </a:r>
            <a:endParaRPr lang="en-US" sz="1500" dirty="0"/>
          </a:p>
        </p:txBody>
      </p:sp>
      <p:sp>
        <p:nvSpPr>
          <p:cNvPr id="28" name="Text 9"/>
          <p:cNvSpPr/>
          <p:nvPr/>
        </p:nvSpPr>
        <p:spPr>
          <a:xfrm>
            <a:off x="6572250" y="3771900"/>
            <a:ext cx="4857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Integrate the interactive Plotly Dash Dashboard for real-time monitoring of key business metrics.</a:t>
            </a:r>
            <a:endParaRPr lang="en-US" sz="1200" dirty="0"/>
          </a:p>
        </p:txBody>
      </p:sp>
      <p:sp>
        <p:nvSpPr>
          <p:cNvPr id="29" name="Text 10"/>
          <p:cNvSpPr/>
          <p:nvPr/>
        </p:nvSpPr>
        <p:spPr>
          <a:xfrm>
            <a:off x="3854946" y="4724400"/>
            <a:ext cx="448210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30" name="Text 11"/>
          <p:cNvSpPr/>
          <p:nvPr/>
        </p:nvSpPr>
        <p:spPr>
          <a:xfrm>
            <a:off x="3406735" y="5219700"/>
            <a:ext cx="537852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32" name="Text 13"/>
          <p:cNvSpPr/>
          <p:nvPr/>
        </p:nvSpPr>
        <p:spPr>
          <a:xfrm>
            <a:off x="11367790" y="6515100"/>
            <a:ext cx="25753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8/8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738</Words>
  <Application>Microsoft Office PowerPoint</Application>
  <PresentationFormat>Widescreen</PresentationFormat>
  <Paragraphs>169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waceranelisa@gmail.com</cp:lastModifiedBy>
  <cp:revision>4</cp:revision>
  <dcterms:created xsi:type="dcterms:W3CDTF">2025-12-01T20:37:43Z</dcterms:created>
  <dcterms:modified xsi:type="dcterms:W3CDTF">2025-12-04T12:21:48Z</dcterms:modified>
</cp:coreProperties>
</file>